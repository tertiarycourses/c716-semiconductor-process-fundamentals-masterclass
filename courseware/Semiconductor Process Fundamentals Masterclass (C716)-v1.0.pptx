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6" r:id="rId17"/>
    <p:sldId id="267" r:id="rId18"/>
    <p:sldId id="271" r:id="rId22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8" r:id="rId139"/>
    <p:sldId id="389" r:id="rId140"/>
    <p:sldId id="393" r:id="rId144"/>
    <p:sldId id="394" r:id="rId1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22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18" Type="http://schemas.openxmlformats.org/officeDocument/2006/relationships/slide" Target="slides/slide104.xml"/><Relationship Id="rId119" Type="http://schemas.openxmlformats.org/officeDocument/2006/relationships/slide" Target="slides/slide105.xml"/><Relationship Id="rId120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Relationship Id="rId123" Type="http://schemas.openxmlformats.org/officeDocument/2006/relationships/slide" Target="slides/slide109.xml"/><Relationship Id="rId124" Type="http://schemas.openxmlformats.org/officeDocument/2006/relationships/slide" Target="slides/slide110.xml"/><Relationship Id="rId125" Type="http://schemas.openxmlformats.org/officeDocument/2006/relationships/slide" Target="slides/slide111.xml"/><Relationship Id="rId126" Type="http://schemas.openxmlformats.org/officeDocument/2006/relationships/slide" Target="slides/slide112.xml"/><Relationship Id="rId127" Type="http://schemas.openxmlformats.org/officeDocument/2006/relationships/slide" Target="slides/slide113.xml"/><Relationship Id="rId128" Type="http://schemas.openxmlformats.org/officeDocument/2006/relationships/slide" Target="slides/slide114.xml"/><Relationship Id="rId129" Type="http://schemas.openxmlformats.org/officeDocument/2006/relationships/slide" Target="slides/slide115.xml"/><Relationship Id="rId130" Type="http://schemas.openxmlformats.org/officeDocument/2006/relationships/slide" Target="slides/slide116.xml"/><Relationship Id="rId131" Type="http://schemas.openxmlformats.org/officeDocument/2006/relationships/slide" Target="slides/slide117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5" Type="http://schemas.openxmlformats.org/officeDocument/2006/relationships/slide" Target="slides/slide121.xml"/><Relationship Id="rId136" Type="http://schemas.openxmlformats.org/officeDocument/2006/relationships/slide" Target="slides/slide122.xml"/><Relationship Id="rId137" Type="http://schemas.openxmlformats.org/officeDocument/2006/relationships/slide" Target="slides/slide123.xml"/><Relationship Id="rId139" Type="http://schemas.openxmlformats.org/officeDocument/2006/relationships/slide" Target="slides/slide124.xml"/><Relationship Id="rId140" Type="http://schemas.openxmlformats.org/officeDocument/2006/relationships/slide" Target="slides/slide125.xml"/><Relationship Id="rId144" Type="http://schemas.openxmlformats.org/officeDocument/2006/relationships/slide" Target="slides/slide126.xml"/><Relationship Id="rId145" Type="http://schemas.openxmlformats.org/officeDocument/2006/relationships/slide" Target="slides/slide1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C716-Semiconductor-Process-Fundamentals-Masterclas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2.png"/>
          <p:cNvPicPr>
            <a:picLocks noChangeAspect="1"/>
          </p:cNvPicPr>
          <p:nvPr/>
        </p:nvPicPr>
        <p:blipFill>
          <a:blip r:embed="rId2"/>
          <a:srcRect l="21747" r="21747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4920" y="0"/>
            <a:ext cx="54864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NON-WSQ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4526280" cy="2331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Semiconductor Process Fundamentals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10712"/>
            <a:ext cx="425196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Connect modules · control interactions · verify device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261104"/>
            <a:ext cx="42519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480560"/>
            <a:ext cx="3794760" cy="8229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C716</a:t>
            </a:r>
          </a:p>
          <a:p>
            <a:r>
              <a:rPr sz="1300" b="1">
                <a:latin typeface="Arial"/>
              </a:rPr>
              <a:t>Version v1.0 · 1 October 2026</a:t>
            </a:r>
          </a:p>
          <a:p>
            <a:r>
              <a:rPr sz="1300" b="1">
                <a:latin typeface="Arial"/>
              </a:rPr>
              <a:t>Trainer: Dr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788152"/>
            <a:ext cx="43891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General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67818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4602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446020"/>
            <a:ext cx="91440" cy="67818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9173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15468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154680"/>
            <a:ext cx="91440" cy="6781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863339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863339"/>
            <a:ext cx="91440" cy="67818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90905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572000"/>
            <a:ext cx="91440" cy="6781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61772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77600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2806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5280660"/>
            <a:ext cx="91440" cy="67818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53263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87752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587752"/>
            <a:ext cx="91440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Doctorate · ACTA/ACLP-aligned adult educator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438144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438144"/>
            <a:ext cx="91440" cy="8138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83863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Semiconductor · quality · emerging technology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288536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288536"/>
            <a:ext cx="91440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334255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Professional training and technology leadership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5138928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5138928"/>
            <a:ext cx="91440" cy="8138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184648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77600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semiconductor process or quality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module interaction you find difficult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result you want by the end of Day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distinguish measurements from assumptions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Participate actively and ask technical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Participate actively and ask technical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Respect confidential process and product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Respect confidential process and product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conversation at a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One conversation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Stop any unsafe or unauthorised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Stop any unsafe or unauthorised activity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Programme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days · 15 hours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Course code: C716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9:30am–5:30pm · 7.5 hours per day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1: 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Evidence and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2: integration and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Eight individual activity folders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Worksheets, checklists and evidence records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Course synthesis on Day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-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09:30 Introductions and course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09:50 Block 1A: patterning and etch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10:55 Activities 1-2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12:40 Lunch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13:10 Block 1B: implant, thermal and films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14:30 Activities 3-4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16:20 Integrated-flow review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17:30 End of Day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-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09:30 Day 1 retrieval; Block 2A: performance, yield and reliability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11:20 Activity 5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12:20 Lunch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12:50 Activity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14:05 Block 2B: SPC and packaging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15:20 Activities 7-8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17:00 Course synthesis and feedback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17:30 End of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3246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331720"/>
            <a:ext cx="1051560" cy="105156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578608"/>
            <a:ext cx="10515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67712"/>
            <a:ext cx="80467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Open the course repository to access all eight activity folders.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136392"/>
            <a:ext cx="80467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Detailed download and file-access guidance is provided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977639"/>
            <a:ext cx="8046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https://github.com/tertiarycourses/C716-Semiconductor-Process-Fundamentals-Masterclass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PROCESS-INTEGRATION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fab is a connected system, not a collection of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8755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module hands variation, defects and evidence to the next module.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LEARNING BLOCK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Patterning, Etch and Fab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Build reliable patterns while controlling contamination, CD, overlay and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F6FEB"/>
                </a:solidFill>
                <a:latin typeface="Arial"/>
              </a:rPr>
              <a:t>1A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Wafer Fab as a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Wafer Fab as a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Lithography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Lithography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Mask Tone and Resist 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Mask Tone and Resist Tone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Resist Coating and Bake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Resist Coating and Bake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Etch versus Dry 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Etch versus Dry Etch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Strip and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Strip and Clean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Pattern-Transfer Window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Pattern-Transfer Window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Patterning Evidence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Evidence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BLOCK 1A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Patterning, Etch and Fab Control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Wafer Fab as a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hundreds of tightly coupled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Cleanroom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particles and molecular contamination are controlled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each module owns incoming and outgoing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Release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pass is a measured decision, not an assumption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 patterns and create opens or shorts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shift electrical behaviour and junction properties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Organics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interfere with adhesion, exposure and interfaces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Water and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transport hidden contamination between modules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Lithography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Mask or reticle carries the intended geometry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Resist converts optical energy into a soluble contrast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Alignment connects the current level to prior levels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Developed resist becomes the etch or implant mask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Mask Tone and Resist 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Clear-field and dark-field masks invert where light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Clear-field and dark-field masks invert where light passes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Positive resist removes exposed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Positive resist removes exposed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Negative resist retains exposed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Negative resist retains exposed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combination determines whether a hole or island remains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combination determines whether a hole or island remains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Resist Coating and Bake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Prime improves adhesion on the prepared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Prime improves adhesion on the prepared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Spin speed and dispense control resist thickness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Spin speed and dispense control resist thickness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Soft bake removes solvent without damaging image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Soft bake removes solvent without damaging image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Edge bead and coverage affect focus and defectivity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Edge bead and coverage affect focus and defectivity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Wavelength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shorter light supports smaller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Numerical aperture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higher NA improves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Depth of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normally shrinks as NA 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Overlay error shifts one layer against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Overlay error shifts one layer against another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OPC pre-distorts features to counter imaging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OPC pre-distorts features to counter imaging effects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Antireflective layers reduce standing-wave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Antireflective layers reduce standing-wave effects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Pellicles and inspection reduce repeating defects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Pellicles and inspection reduce repeating defects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Wet Etch versus Dry Etch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Wet etch is often isotropic and can undercut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Plasma/RIE supports directional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Chemistry controls material reaction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Bias, pressure and transport influence sidewalls and damage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Selectivity protects resist and stop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Selectivity protects resist and stop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Over-etch clears residual film but consumes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Over-etch clears residual film but consumes 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Microloading makes local pattern density 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Microloading makes local pattern density matter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Endpoint and cross-section evidence localise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Endpoint and cross-section evidence localise failure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Strip and Clean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strip dissolves resist where surfaces tolerate chemistry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strip dissolves resist where surfaces tolerate chemistry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 strip removes organics but can damage sensitive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 strip removes organics but can damage sensitive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RCA-type cleans target particles, organics and metals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RCA-type cleans target particles, organics and metals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Drying must avoid watermarking and recontamination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Drying must avoid watermarking and recontamination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Pattern-Transfer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Lithography CD sets the incoming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Lithography CD sets the incoming geometry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Etch bias changes the final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Etch bias changes the final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Across-wafer signatures expose non-uniformity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Across-wafer signatures expose non-uniformity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Patterning Evidence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CD, overlay and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bridge, open, pinhole, residue or collapse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exposure, develop, etch or clean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release, conditional release, hold or scrap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Photolithography Exposure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9404"/>
            <a:ext cx="66294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Trace light from source through the mask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the aerial image to resist contrast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alignment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Etch Profile and Undercut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4591"/>
            <a:ext cx="6629400" cy="18500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anisotropic and isotropic profiles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the material at risk during over-etch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Link sidewall shape to selectivity and 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Damage Recovery and Dopant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03685"/>
            <a:ext cx="6629400" cy="16918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crystal repair from electrical activation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Recognise diffusion during the thermal cycle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Relate the result to later junction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Dual-Damascene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46" y="1645920"/>
            <a:ext cx="461384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Follow via and trench 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barrier, seed and copper fill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where CMP closes the module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CMOS Process Module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new 300 mm logic product is moving from process development into a pilot manufacturing line. The integration team needs one agreed process map before module owners set recipes and control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Organise the legacy module coverage into a defensible FEOL-to-BEOL flow and expose the interfaces that can propagate variation.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lithography-etch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45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1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map contains all seven key process modules and distinguishes FEOL from BEOL.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eight process hand-offs have a measurable characteristic.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three control/feedback loops and two cross-module interactions are justified.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a Pattern-Transfer Process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contact layer shows intermittent bridging and open defects. Lithography CD, resist profile and plasma-etch selectivity must be reviewed together rather than as isolated module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Connect mask/resist/exposure decisions to etch profile and select a stable corrective action without masking the root cause.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lithography-etch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2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Every defect is linked to a plausible lithography/etch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dominant CD-shift stage is supported by before/after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Corrective levers include predicted benefit, risk and verification measurement.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Strip and Clean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Pattern-Transfer Window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Evidence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45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TOPIC 1 · LEARNING BLOCK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Implant, Thermal, Films and Integrated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Control material modification, film formation, planarity and FEOL-to-BEOL hand-offs.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6D3FD2"/>
                </a:solidFill>
                <a:latin typeface="Arial"/>
              </a:rPr>
              <a:t>1B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Implant Dose and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Implant Dose and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Beamline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Beamline Risks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Diffusion, Furnace and RTP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Diffusion, Furnace and RTP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Oxidation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Oxidation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CVD, PECVD and Epitaxy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CVD, PECVD and Epitaxy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PVD, Barrier and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PVD, Barrier and 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Copper Dual Damascene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Copper Dual Damascene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Planarity Failure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Planarity Failure Modes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Integrated FEOL and BEOL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Integrated FEOL and BEOL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Cross-Module Budgeting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Cross-Module Budgeting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BLOCK 1B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Implant, Thermal, Films and Integrated Flow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Implant Dose and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Dose controls total implanted 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Dose controls total implanted 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Energy controls the depth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Energy controls the depth 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Tilt and twist reduce channeling and shadowing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Tilt and twist reduce channeling and shadowing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Uniform scanning protects within-wafer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Uniform scanning protects within-wafer consistency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Beamline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Charging can deflect beams or damage dielectrics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Charging can deflect beams or damage dielectrics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Channeling produces unexpectedly deep 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Channeling produces unexpectedly deep 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Mask topography creates shadowed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Mask topography creates shadowed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Beam focus and scan strategy affect uniformity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Beam focus and scan strategy affect uniformity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Implant collisions create vacancies and interstitials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Anneal repairs lattice damage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Activation places dopants on useful sites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Electrical improvement can coexist with diffusion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Diffusion, Furnace and RTP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Furnace cycles favour batch throughput and long soak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Furnace cycles favour batch throughput and long soak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RTP uses fast ramps and short dwell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RTP uses fast ramps and short dwell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budget controls activation and junction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budget controls activation and junction movement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best cycle balances electrical target with geometry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best cycle balances electrical target with geometry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Thermal Oxidation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Silicon is consumed as silicon dioxide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Silicon is consumed as silicon dioxide grows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 oxidation grows slowly with strong film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 oxidation grows slowly with strong film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oxidation grows faster for thicker films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oxidation grows faster for thicker films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Temperature, time and surface condition control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Temperature, time and surface condition control 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CVD, PECVD and Epitaxy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CVD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film forms through surface reactions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PECVD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plasma lowers process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Epitaxy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deposited crystal follows the substrate lattice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PVD, Barrier and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Sputtering transports target atoms to the wafer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Sputtering transports target atoms to the wafer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Directional coverage challenges deep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Directional coverage challenges deep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Barrier films limit metal diffusion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Barrier films limit metal diffusion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Continuous seed enables uniform electrofill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Continuous seed enables uniform electrofill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Copper Dual Damascene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Pattern vias and trenches in dielectric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Deposit liner, barrier and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Electrofill copper without seams or voids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Polish overburden while protecting pattern density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Pad contact and slurry chemistry work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Pad contact and slurry chemistry work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Downforce, speed and pad state affect removal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Downforce, speed and pad state affect removal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Selectivity protects stop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Selectivity protects stop layers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Post-CMP clean removes abrasive and metal residue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Post-CMP clean removes abrasive and metal residue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Planarity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Dishing removes too much metal in wide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Dishing removes too much metal in wide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Erosion lowers dense pattern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Erosion lowers dense pattern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Incomplete clear leaves conductive residue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Incomplete clear leaves conductive residue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Topography and electrical continuity must both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Topography and electrical continuity must both 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FEOL and BEOL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Isolation and wells define device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Isolation and wells define device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Gate and source/drain form transistors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Gate and source/drain form transistors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Contacts and interconnect create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Contacts and interconnect create connectivity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Cross-Module Budgeting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budget accumulates across later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budget accumulates across later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Topography changes the next lithography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Topography changes the next lithography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Contamination transfers through surfaces and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Contamination transfers through surfaces and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hand-off needs evidence and an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hand-off needs evidence and an owner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152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CMP Tool and Contact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8410"/>
            <a:ext cx="6629400" cy="32824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wafer, pad and slurry interface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relative motion to removal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Distinguish removal rate from final planarity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FEOL and BEOL Cross-Sections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46" y="1645920"/>
            <a:ext cx="590744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transistor formation from interconnect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connectivity through contacts and vias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module interfaces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Shallow Trench Isolation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97" y="1645920"/>
            <a:ext cx="3313742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Follow trench from pattern to fill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etch, oxidation, deposition and CMP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where active-area CD can move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Wafer Sort as an Integration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8276"/>
            <a:ext cx="6629400" cy="35426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every die against criteria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Convert results into wafer-level patterns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Feed spatial signatures back to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Implantation and Thermal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After a source/drain extension implant, sheet resistance is above target and short-channel control is drifting. The team must distinguish dose/energy error from activation and diffusion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an implant-to-anneal decision trail that balances activation, junction depth, damage recovery and channeling risk.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film-cmp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55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3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recommendation distinguishes implant dose/energy, damage and activation mechanisms.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Thermal-budget effects on activation and diffusion are explicit.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Follow-up measurements can confirm or reject the proposed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Film Deposition and CMP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dual-damascene copper level meets line-resistance targets at wafer centre but fails near the edge with dishing, erosion and suspected barrier continuity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 deposition, fill and CMP interactions and design a verification plan that protects both planarity and electrical performance.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film-cmp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55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4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layer stack and each module's function are correctly labelled.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analysis distinguishes deposition/fill causes from polishing causes.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release rule uses both physical and electrical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Planarity Failure Modes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Integrated FEOL and BEOL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Cross-Module Budgeting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08A73"/>
                </a:solidFill>
                <a:latin typeface="Arial"/>
              </a:rPr>
              <a:t>Return ready to verify performance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TOPIC 2 · LEARNING BLOCK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Integration Performance, Yield and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metrology, electrical data and reliability evidence to verify product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08A73"/>
                </a:solidFill>
                <a:latin typeface="Arial"/>
              </a:rPr>
              <a:t>2A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Transistor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Transistor 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Yield Is Multiplicative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Yield Is Multiplicative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Metrology by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Metrology by Question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Measurement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Measurement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Electrical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Electrical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Reliability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Reliability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Cp and Cpk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Evidence-Based Release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Evidence-Based Release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BLOCK 2A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Integration Performance, Yield and Reliability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LOCOS is simple but creates bird's-beak encroachment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LOCOS is simple but creates bird's-beak encroachment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STI supports scaling through etched and filled trenches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STI supports scaling through etched and filled trenches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Well architecture controls body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Well architecture controls body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Stress, CD and topography affect device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Stress, CD and topography affect device behaviour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Transistor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Gate stack sets electrostatic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Gate stack sets electrostatic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Source/drain implants establish junctions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Source/drain implants establish junctions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Spacers sequence extension and deep implants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Spacers sequence extension and deep implants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Contacts must preserve silicide and junction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Contacts must preserve silicide and junction 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Yield Is Multiplicative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Wafer-fab yield reflects process survival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Wafer-sort yield reflects functional die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Packaging yield reflects assembly and final test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stage can erase gains made at another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Larger die expose more area to random 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Larger die expose more area to random defects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Clustered defects violate simple random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Clustered defects violate simple random assumptions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Systematic defects need separate treatment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Systematic defects need separate treatment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Yield models support prediction, not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Yield models support prediction, not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Metrology by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Ellipsometry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thin-film thickness and optics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Profilometry/AFM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step height and topography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SEM/TEM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CD, profile and internal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SIMS/Auger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concentration and surface composition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Measurement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Before and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isolate the suspected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Spatial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expose centre-edge or chamber signatures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match instrument to the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Electrical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Four-point probe measures sheet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Four-point probe measures sheet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Gate-oxide integrity tests dielectric weakness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Gate-oxide integrity tests dielectric weakness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I-V curves reveal threshold, leakage and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I-V curves reveal threshold, leakage and drive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specifications decide pass/fail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Product specifications decide pass/fail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Reliability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Mechanism explains degradation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Accelerated stress creates measurable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Failure criterion defines the endpoint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Physical confirmation links failure to cause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Hot carriers damage the channel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Hot carriers damage the channel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TDDB accumulates dielectric damage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TDDB accumulates dielectric damage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Electromigration moves metal under current density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Electromigration moves metal under current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Geometry, material and temperature change lifetime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Geometry, material and temperature change lifetime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limits describe process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describe process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Specification limits describe product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Specification limits describe product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stable process may still be off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stable process may still be off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 in-spec point can signal a process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 in-spec point can signal a process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Capability: Cp and Cpk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Cp compares specification width with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Cp compares specification width with spread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Cpk also reflects centering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Cpk also reflects centering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Capability follows stability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Capability follows stability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Evidence-Based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 the product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 the product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physical and electrical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physical and electrical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Compare with limits and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with limits and uncertainty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Document disposition and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Document disposition and follow-up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CONCEPT · NATIVE REBUILD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Yield Models and Their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exp(-A D0)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Random, independent defects; useful as a simple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1737360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Murphy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[(1 - exp(-A D0)) / (A D0)]²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Allows defect density to vary across the wafer.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737360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Negative binomial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(1 + A D0 / α)^(-α)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Represents clustered defects through clustering factor 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7667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04688"/>
            <a:ext cx="104058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= die area · D0 = defect density · Use measured yield patterns to test the model assumption.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SEM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43815"/>
            <a:ext cx="6629400" cy="42116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dimensions from the scale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Distinguish surface from cross-section imaging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Link the image to the process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Hot-Carrier Degradation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42" y="1645920"/>
            <a:ext cx="6201852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the high-field drain region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trapped charge to parameter shift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stress and readout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Capability Is Spread plus Centering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01" y="1645920"/>
            <a:ext cx="525933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distribution with specifications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potential from actual capability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Do not claim capability before 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 STI Integration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TechSemicon is introducing shallow trench isolation for an advanced CMOS product. Electrical spread and active-area CD variation appear after integration, and the review board needs a complete process/evidence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Produce the process-flow and challenge analysis for a shallow trench isolation integration.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metrology-spc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5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eight core STI stages are in the correct order and have a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four implementation challenges are linked to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flow explains both scaling benefit and integration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Yield and Process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gate module has a target CD of 100 nm with specification limits at 90 and 110 nm. The process owner needs Cp/Cpk evidence and a reasoned yield-risk statement before qualification.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Recreate and improve the legacy ProcessCapability exercise using an auditable Excel workbook with dynamic formulas.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metrology-spc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75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6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Workbook formulas remain intact and show no Excel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learner distinguishes Cp from Cpk and links both to process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decision includes containment, corrective action and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Capability: Cp and Cpk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Evidence-Based 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Afternoon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TOPIC 2 · LEARNING BLOCK 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SPC, Packaging and Future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Control excursions, close the feedback loop and evaluate next-generation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6845B"/>
                </a:solidFill>
                <a:latin typeface="Arial"/>
              </a:rPr>
              <a:t>2B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SPC as a Feedback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SPC as a Feedback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Variable Control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Variable Control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Attribute Control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Attribute Control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Signals Beyond One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Signals Beyond One Point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Excursion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Excursion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Packaging Process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Packaging 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Wire Bond and Flip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Wire Bond and Flip Chip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2.5D, 3D and Chiplets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2.5D, 3D and Chiplets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FinFET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FinFET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GAAFET Nanosheets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GAAFET Nanosheets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Beyond Today's CMOS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Beyond Today's CMOS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BLOCK 2B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SPC, Packaging and Future Integration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SPC as a Feedback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Sample the process with a rational subgroup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Sample the process with a rational subgroup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Plot performance against behaviour-based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Plot performance against behaviour-based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 special-cause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Detect special-cause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 risk and restore control with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Contain risk and restore control with 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Variable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measurements such as 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Attribute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counts or proportions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Subgroup size decides Xbar-R versus Xbar-S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Subgroup size decides Xbar-R versus Xbar-S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Opportunity and sample size decide p, np, c or 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Opportunity and sample size decide p, np, c or 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 Control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Xbar tracks subgroup centre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or S tracks within-subgroup spread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two charts answer different questions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mean chart is incomplete without spread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Attribute Control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proportion defective, variable sample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np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defective count, constant sample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 count, constant opportunity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defects per unit, variable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Signals Beyond One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point beyond a limit is a strong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point beyond a limit is a strong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Runs and trends expose non-random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Runs and trends expose non-random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Stratification reveals tool, wafer or time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Stratification reveals tool, wafer or time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Rules must be defined before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Rules must be defined before interpretation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DECISION SEQUENCE · PROCEDURE IN LEARNER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Excursion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9616" y="202996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Hold material and preserve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2996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Tool, chamber, wafer, product and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16" y="202996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Controlled change with rollback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9216" y="202996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Stable behaviour and capability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Packaging 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Prepare and thin wafer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Prepare and thin wafer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Separate, inspect and attach 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Separate, inspect and attach die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electrical interconnect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Create electrical interconnect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Seal, plate, final-test and burn-in as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Seal, plate, final-test and burn-in as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 Bond and Flip Chip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Wire bond is flexible but adds loop length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Flip chip raises I/O density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Underfill and joint quality manage mechanical risk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Inspection and test protect assembly yield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2.5D, 3D and Chiplets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Interposers connect multiple 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Interposers connect multiple 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3D stacks use vertical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3D stacks use vertical connections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Known-good-die and thermal design are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Known-good-die and thermal design are inputs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Integration control crosses organisations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Integration control crosses organisations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FinFET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fin raises the channel above substrate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fin raises the channel above substrate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Multiple gate surfaces improve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Multiple gate surfaces improve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 geometry and parasitics affect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 geometry and parasitics affect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Patterning and variability challenge 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and variability challenge manufacturing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GAAFET Nanosheets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Gate surrounds the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Gate surrounds the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Stacked sheets increase effective 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Stacked sheets increase effective 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Release, inner spacer and contacts are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Release, inner spacer and contacts are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DECISION SEQUENCE · PROCEDURE IN LEARNER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Readiness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9616" y="202996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Capability and module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2996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Device metrics against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16" y="202996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Stress evidence and failure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9216" y="202996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Manufacturing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Yield, test and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Flip-Chip Interconnect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64044"/>
            <a:ext cx="6629400" cy="29711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Trace die-to-substrate connections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solder joints and underfill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geometry to mechanical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Chiplet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85105"/>
            <a:ext cx="6629400" cy="37290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separate functional dies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Recognise substrate or interposer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Treat known-good-die and test as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FinFET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8015"/>
            <a:ext cx="6629400" cy="25032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gate contact around the fin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fin geometry to channel width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geometry-sensitive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GAAFET Nanosheet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93461"/>
            <a:ext cx="6629400" cy="19123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See the gate surrounding each sheet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stacked channel configurations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release and spacer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Respond to an SPC CD Excursion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STI active-area CD is drifting across production lots. A point crosses the upper control limit and a seven-point upward run appears before the alarm. The team must contain risk and restore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Recreate the legacy P-chart/SPC exercises and generate the corrective-action chain for a CD excursion.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packaging-future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50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7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response identifies both limit violation and non-random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Containment precedes root-cause adjustment and protects affected 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Corrective action, verification criteria and follow-up owner are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a Future-Technology Integration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product team is deciding whether to adopt chiplet packaging, FinFET or GAAFET for its next platform. Integration readiness must be assessed using process, performance, reliability and packaging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Combine the entire course into a structured technology-gate recommendation without treating future devices as isolated marketing concepts.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packaging-future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50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8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recommendation integrates process, device, reliability, yield and packaging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Every gate has a measurable threshold and an accountable follow-up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conclusion is conditional on evidence rather than technology hype.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2.5D, 3D and Chiplets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FinFET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GAAFET Nanosheets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Beyond Today's CMOS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Integrated CMOS Decision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Process · interaction · evidence · performance ·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08A73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technology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 module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performance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against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follow 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Professional Integration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Process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process sequence complete?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interaction creates the risk?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incoming and outgoing evidence exists?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Are limits and uncertainty explicit?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and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performance meet product requirements?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process stable and capable?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reliability evidence sufficient?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owns the next action and by when?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SOURCE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Evidence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Legacy v7 trainer deck retained as the content and visual coverage floor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Original graphics use aspect-ratio-safe contain placement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New Imagegen visuals are recorded in the source 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Detailed procedures remain in the Learner Guide and activity folders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&amp; Certificate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course feedback survey before you leave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Tell us what worked and what to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the trainer if you cannot open the survey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certificate of completion will be emailed to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CMOS PROCESS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8755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Integrate the flow, follow the evidence and close every risk with an accountable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Semiconductor Process Fundamentals · C716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Process Fundamentals Masterclass</dc:title>
  <dc:subject>C716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